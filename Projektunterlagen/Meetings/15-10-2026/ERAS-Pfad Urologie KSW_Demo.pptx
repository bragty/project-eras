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60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9133" autoAdjust="0"/>
  </p:normalViewPr>
  <p:slideViewPr>
    <p:cSldViewPr snapToGrid="0" snapToObjects="1">
      <p:cViewPr varScale="1">
        <p:scale>
          <a:sx n="87" d="100"/>
          <a:sy n="87" d="100"/>
        </p:scale>
        <p:origin x="14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600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D6AB6-43A5-49AF-DDE2-FAA7B1854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79A73C-D2D3-E6D4-2A40-B1447501CE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962E9-D51C-FE46-EBD8-A8CC5E014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66ACA-C592-E7B1-E557-6CBB672C49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69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0080"/>
            <a:ext cx="10566400" cy="39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23145"/>
            <a:ext cx="10566400" cy="4222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20080"/>
            <a:ext cx="10566400" cy="39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23145"/>
            <a:ext cx="10566400" cy="4222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BA1F3-AA4F-2278-FC89-1A78CD0A9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7B578AC-5491-BCED-5D54-8493EA79018A}"/>
              </a:ext>
            </a:extLst>
          </p:cNvPr>
          <p:cNvSpPr/>
          <p:nvPr/>
        </p:nvSpPr>
        <p:spPr>
          <a:xfrm>
            <a:off x="812800" y="7112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0070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 · HERAUSFORDERUNG · UROLOGIE KSW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4BF610-235C-3E7E-1922-EED1D69EA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1120080"/>
            <a:ext cx="10883392" cy="423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36"/>
              </a:lnSpc>
              <a:buNone/>
            </a:pPr>
            <a:r>
              <a:rPr lang="en-US" sz="2800" b="1" i="0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Komplex im Ablauf, schwer messbar in der Qualität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154D263-9D32-855E-9C30-63DB4F59190C}"/>
              </a:ext>
            </a:extLst>
          </p:cNvPr>
          <p:cNvSpPr/>
          <p:nvPr/>
        </p:nvSpPr>
        <p:spPr>
          <a:xfrm>
            <a:off x="815975" y="1699320"/>
            <a:ext cx="3380284" cy="1961852"/>
          </a:xfrm>
          <a:prstGeom prst="roundRect">
            <a:avLst>
              <a:gd name="adj" fmla="val 6312"/>
            </a:avLst>
          </a:prstGeom>
          <a:solidFill>
            <a:srgbClr val="FFFFFF"/>
          </a:solidFill>
          <a:ln w="635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5" name="Image 0" descr="Users">
            <a:extLst>
              <a:ext uri="{FF2B5EF4-FFF2-40B4-BE49-F238E27FC236}">
                <a16:creationId xmlns:a16="http://schemas.microsoft.com/office/drawing/2014/main" id="{35867E20-ABB4-32FC-8EF7-7AFB93D067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7750" y="1931095"/>
            <a:ext cx="254000" cy="2540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BFE12BEF-49E5-4147-AF74-3A10E64ACC79}"/>
              </a:ext>
            </a:extLst>
          </p:cNvPr>
          <p:cNvSpPr/>
          <p:nvPr/>
        </p:nvSpPr>
        <p:spPr>
          <a:xfrm>
            <a:off x="1403350" y="1936155"/>
            <a:ext cx="179284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Viele Beteiligte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2E40C68-6637-8EA1-6E25-A782E5D32AFE}"/>
              </a:ext>
            </a:extLst>
          </p:cNvPr>
          <p:cNvSpPr/>
          <p:nvPr/>
        </p:nvSpPr>
        <p:spPr>
          <a:xfrm>
            <a:off x="1047750" y="2273995"/>
            <a:ext cx="3004236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Urologie, Anästhesie, Pflege, Ernährung, Physio, Geriatrie, Pneumologie und Kardiologie müssen Termine und Zuweisungen abstimmen.</a:t>
            </a:r>
            <a:endParaRPr lang="en-US" sz="13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2879CC1-6130-59A6-F5ED-B9A3FC55F250}"/>
              </a:ext>
            </a:extLst>
          </p:cNvPr>
          <p:cNvSpPr/>
          <p:nvPr/>
        </p:nvSpPr>
        <p:spPr>
          <a:xfrm>
            <a:off x="4405809" y="1699320"/>
            <a:ext cx="3380383" cy="1961852"/>
          </a:xfrm>
          <a:prstGeom prst="roundRect">
            <a:avLst>
              <a:gd name="adj" fmla="val 6312"/>
            </a:avLst>
          </a:prstGeom>
          <a:solidFill>
            <a:srgbClr val="FFFFFF"/>
          </a:solidFill>
          <a:ln w="635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9" name="Image 1" descr="Database">
            <a:extLst>
              <a:ext uri="{FF2B5EF4-FFF2-40B4-BE49-F238E27FC236}">
                <a16:creationId xmlns:a16="http://schemas.microsoft.com/office/drawing/2014/main" id="{1BA4FFDE-4DBF-42E9-D975-73616ECC3D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37584" y="1931095"/>
            <a:ext cx="254000" cy="254000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A33B8D7B-7C71-E4C4-1DE4-81ADC304967C}"/>
              </a:ext>
            </a:extLst>
          </p:cNvPr>
          <p:cNvSpPr/>
          <p:nvPr/>
        </p:nvSpPr>
        <p:spPr>
          <a:xfrm>
            <a:off x="4993184" y="1936155"/>
            <a:ext cx="242268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Verteilte Information</a:t>
            </a:r>
            <a:endParaRPr lang="en-US" sz="1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7C4343D-C0A2-83F2-F07B-31FF008BFCB2}"/>
              </a:ext>
            </a:extLst>
          </p:cNvPr>
          <p:cNvSpPr/>
          <p:nvPr/>
        </p:nvSpPr>
        <p:spPr>
          <a:xfrm>
            <a:off x="4637584" y="2273995"/>
            <a:ext cx="3004338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Checklisten, Excel-Listen und Klinikinformationssystem laufen nebeneinander: Doppelerfassung und manuelles Nachverfolgen.</a:t>
            </a:r>
            <a:endParaRPr lang="en-US" sz="13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859F7EEA-61F2-47D2-0AA6-3C6705EDA259}"/>
              </a:ext>
            </a:extLst>
          </p:cNvPr>
          <p:cNvSpPr/>
          <p:nvPr/>
        </p:nvSpPr>
        <p:spPr>
          <a:xfrm>
            <a:off x="7995741" y="1699320"/>
            <a:ext cx="3380284" cy="1961852"/>
          </a:xfrm>
          <a:prstGeom prst="roundRect">
            <a:avLst>
              <a:gd name="adj" fmla="val 6312"/>
            </a:avLst>
          </a:prstGeom>
          <a:solidFill>
            <a:srgbClr val="FFFFFF"/>
          </a:solidFill>
          <a:ln w="635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pic>
        <p:nvPicPr>
          <p:cNvPr id="13" name="Image 2" descr="Chart">
            <a:extLst>
              <a:ext uri="{FF2B5EF4-FFF2-40B4-BE49-F238E27FC236}">
                <a16:creationId xmlns:a16="http://schemas.microsoft.com/office/drawing/2014/main" id="{02657344-4B0A-F8D1-39F8-19A1B7903E5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7516" y="1931095"/>
            <a:ext cx="254000" cy="254000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6A3C5367-7B2D-95A6-4B1D-993C3D6EB439}"/>
              </a:ext>
            </a:extLst>
          </p:cNvPr>
          <p:cNvSpPr/>
          <p:nvPr/>
        </p:nvSpPr>
        <p:spPr>
          <a:xfrm>
            <a:off x="8583116" y="1936155"/>
            <a:ext cx="270271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Qualität kaum messbar</a:t>
            </a:r>
            <a:endParaRPr lang="en-US" sz="16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5DBECF26-855C-D4CE-9A29-204293515BA9}"/>
              </a:ext>
            </a:extLst>
          </p:cNvPr>
          <p:cNvSpPr/>
          <p:nvPr/>
        </p:nvSpPr>
        <p:spPr>
          <a:xfrm>
            <a:off x="8227516" y="2273995"/>
            <a:ext cx="3004236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Welche Elemente wurden umgesetzt? Wie oft treten Komplikationen auf? Ohne strukturierte Daten bleibt das offen.</a:t>
            </a:r>
            <a:endParaRPr lang="en-US" sz="130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2481B33C-6B66-DC79-D901-38BAD79C2A10}"/>
              </a:ext>
            </a:extLst>
          </p:cNvPr>
          <p:cNvSpPr/>
          <p:nvPr/>
        </p:nvSpPr>
        <p:spPr>
          <a:xfrm>
            <a:off x="790607" y="4252217"/>
            <a:ext cx="10566400" cy="517525"/>
          </a:xfrm>
          <a:prstGeom prst="roundRect">
            <a:avLst>
              <a:gd name="adj" fmla="val 14724"/>
            </a:avLst>
          </a:prstGeom>
          <a:solidFill>
            <a:srgbClr val="FFF1E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3" name="Shape 17">
            <a:extLst>
              <a:ext uri="{FF2B5EF4-FFF2-40B4-BE49-F238E27FC236}">
                <a16:creationId xmlns:a16="http://schemas.microsoft.com/office/drawing/2014/main" id="{E645D5C3-971D-0AB5-B153-9B42191CB849}"/>
              </a:ext>
            </a:extLst>
          </p:cNvPr>
          <p:cNvSpPr/>
          <p:nvPr/>
        </p:nvSpPr>
        <p:spPr>
          <a:xfrm>
            <a:off x="790607" y="4252217"/>
            <a:ext cx="10566400" cy="517525"/>
          </a:xfrm>
          <a:custGeom>
            <a:avLst/>
            <a:gdLst/>
            <a:ahLst/>
            <a:cxnLst/>
            <a:rect l="l" t="t" r="r" b="b"/>
            <a:pathLst>
              <a:path w="10566400" h="517525">
                <a:moveTo>
                  <a:pt x="76200" y="517525"/>
                </a:moveTo>
                <a:lnTo>
                  <a:pt x="76200" y="517525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441325"/>
                </a:lnTo>
                <a:arcTo wR="25400" hR="76200" stAng="10800000" swAng="-5400000"/>
                <a:close/>
              </a:path>
            </a:pathLst>
          </a:custGeom>
          <a:solidFill>
            <a:srgbClr val="D969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5F4A2D96-DE92-DBB0-7D56-0E64AB5DE27B}"/>
              </a:ext>
            </a:extLst>
          </p:cNvPr>
          <p:cNvSpPr/>
          <p:nvPr/>
        </p:nvSpPr>
        <p:spPr>
          <a:xfrm>
            <a:off x="1044607" y="4404319"/>
            <a:ext cx="6480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521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FAZIT</a:t>
            </a:r>
            <a:endParaRPr lang="en-US" sz="120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64DC673B-3214-EF39-C023-7406AAF4E661}"/>
              </a:ext>
            </a:extLst>
          </p:cNvPr>
          <p:cNvSpPr/>
          <p:nvPr/>
        </p:nvSpPr>
        <p:spPr>
          <a:xfrm>
            <a:off x="1762455" y="4391917"/>
            <a:ext cx="9673093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Was nicht strukturiert erfasst wird, lässt sich weder sicherstellen noch </a:t>
            </a:r>
            <a:r>
              <a:rPr lang="en-US" sz="1500" b="1" dirty="0" err="1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verbessern</a:t>
            </a:r>
            <a:r>
              <a:rPr lang="en-US" sz="1500" b="1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500" dirty="0"/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D530EE87-6937-DE9A-661E-936219865CDF}"/>
              </a:ext>
            </a:extLst>
          </p:cNvPr>
          <p:cNvSpPr/>
          <p:nvPr/>
        </p:nvSpPr>
        <p:spPr>
          <a:xfrm>
            <a:off x="1523999" y="4952107"/>
            <a:ext cx="9852025" cy="517525"/>
          </a:xfrm>
          <a:prstGeom prst="roundRect">
            <a:avLst>
              <a:gd name="adj" fmla="val 14724"/>
            </a:avLst>
          </a:prstGeom>
          <a:solidFill>
            <a:srgbClr val="FFF1E6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558238C-CFC5-F134-A3FB-B25CFEA3C772}"/>
              </a:ext>
            </a:extLst>
          </p:cNvPr>
          <p:cNvSpPr/>
          <p:nvPr/>
        </p:nvSpPr>
        <p:spPr>
          <a:xfrm>
            <a:off x="1523999" y="4952107"/>
            <a:ext cx="9852026" cy="517525"/>
          </a:xfrm>
          <a:custGeom>
            <a:avLst/>
            <a:gdLst/>
            <a:ahLst/>
            <a:cxnLst/>
            <a:rect l="l" t="t" r="r" b="b"/>
            <a:pathLst>
              <a:path w="10566400" h="517525">
                <a:moveTo>
                  <a:pt x="76200" y="517525"/>
                </a:moveTo>
                <a:lnTo>
                  <a:pt x="76200" y="517525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lnTo>
                  <a:pt x="76200" y="0"/>
                </a:lnTo>
                <a:arcTo wR="25400" hR="76200" stAng="16200000" swAng="-5400000"/>
                <a:lnTo>
                  <a:pt x="50800" y="441325"/>
                </a:lnTo>
                <a:arcTo wR="25400" hR="76200" stAng="10800000" swAng="-5400000"/>
                <a:close/>
              </a:path>
            </a:pathLst>
          </a:custGeom>
          <a:solidFill>
            <a:srgbClr val="D9692A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D2929557-831F-F817-A4BA-BBE86191F08A}"/>
              </a:ext>
            </a:extLst>
          </p:cNvPr>
          <p:cNvSpPr/>
          <p:nvPr/>
        </p:nvSpPr>
        <p:spPr>
          <a:xfrm>
            <a:off x="1781473" y="5091807"/>
            <a:ext cx="9673093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875"/>
              </a:lnSpc>
            </a:pPr>
            <a:r>
              <a:rPr lang="de-CH" sz="1500" b="1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</a:rPr>
              <a:t>So können Lücken vor der Operation entstehen und die Daten sind fragmentiert.</a:t>
            </a:r>
            <a:endParaRPr lang="en-US" sz="1500" b="1" dirty="0">
              <a:solidFill>
                <a:srgbClr val="0B2A3C"/>
              </a:solidFill>
              <a:latin typeface="Public Sans" pitchFamily="34" charset="0"/>
              <a:ea typeface="Public San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01439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0070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 · LÖSUNG · BENE-PLATTFORM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0080"/>
            <a:ext cx="10883392" cy="423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36"/>
              </a:lnSpc>
              <a:buNone/>
            </a:pPr>
            <a:r>
              <a:rPr lang="en-US" sz="2800" b="1" i="0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Eine lokale Plattform für den ganzen ERAS-Pfad</a:t>
            </a:r>
            <a:endParaRPr lang="en-US" sz="2800" dirty="0"/>
          </a:p>
        </p:txBody>
      </p:sp>
      <p:pic>
        <p:nvPicPr>
          <p:cNvPr id="4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696145"/>
            <a:ext cx="279400" cy="279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9200" y="1696145"/>
            <a:ext cx="447370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Ein Pfad, ein Ort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19200" y="1978025"/>
            <a:ext cx="447370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Alle Schritte vor, während und nach der OP in </a:t>
            </a:r>
            <a:r>
              <a:rPr lang="en-US" sz="1350" dirty="0" err="1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einer</a:t>
            </a:r>
            <a:r>
              <a:rPr lang="en-US" sz="135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Web-</a:t>
            </a:r>
            <a:r>
              <a:rPr lang="en-US" sz="1350" dirty="0" err="1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Applikation</a:t>
            </a:r>
            <a:r>
              <a:rPr lang="en-US" sz="135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350" dirty="0"/>
          </a:p>
        </p:txBody>
      </p:sp>
      <p:pic>
        <p:nvPicPr>
          <p:cNvPr id="7" name="Image 1" descr="Light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2648545"/>
            <a:ext cx="279400" cy="279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19200" y="2648545"/>
            <a:ext cx="447370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Weniger Doppelerfassung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219200" y="2930426"/>
            <a:ext cx="4473702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Scores und Zuweisungshinweise werden </a:t>
            </a:r>
            <a:r>
              <a:rPr lang="en-US" sz="1350" dirty="0" err="1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automatisch</a:t>
            </a:r>
            <a:r>
              <a:rPr lang="en-US" sz="135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</a:t>
            </a:r>
            <a:r>
              <a:rPr lang="en-US" sz="1350" dirty="0" err="1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berechnet</a:t>
            </a:r>
            <a:r>
              <a:rPr lang="en-US" sz="135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.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219200" y="3675856"/>
            <a:ext cx="447370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Ein Stand für das ganze Team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219200" y="3957737"/>
            <a:ext cx="447370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Mehrere Arbeitsplätze sehen live denselben Fortschritt, jede Änderung wird protokolliert.</a:t>
            </a:r>
            <a:endParaRPr lang="en-US" sz="1350" dirty="0"/>
          </a:p>
        </p:txBody>
      </p:sp>
      <p:pic>
        <p:nvPicPr>
          <p:cNvPr id="13" name="Image 3" descr="Loc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2800" y="4628257"/>
            <a:ext cx="279400" cy="279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19200" y="4628257"/>
            <a:ext cx="447370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Daten bleiben im Spital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219200" y="4910138"/>
            <a:ext cx="447370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Eigenbetrieb in der </a:t>
            </a:r>
            <a:r>
              <a:rPr lang="en-US" sz="1350" dirty="0" err="1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Spitalinfrastruktur</a:t>
            </a:r>
            <a:endParaRPr lang="en-US" sz="1350" dirty="0"/>
          </a:p>
        </p:txBody>
      </p:sp>
      <p:pic>
        <p:nvPicPr>
          <p:cNvPr id="16" name="Image 4" descr="Screenshot der BENE-Plattform: Prä-OP-Checkliste mit Fortschrittsbalken und Laufbahn-Navigation"/>
          <p:cNvPicPr>
            <a:picLocks noChangeAspect="1"/>
          </p:cNvPicPr>
          <p:nvPr/>
        </p:nvPicPr>
        <p:blipFill>
          <a:blip r:embed="rId6"/>
          <a:srcRect t="70" b="70"/>
          <a:stretch/>
        </p:blipFill>
        <p:spPr>
          <a:xfrm>
            <a:off x="5924550" y="1702495"/>
            <a:ext cx="5448300" cy="3136900"/>
          </a:xfrm>
          <a:prstGeom prst="roundRect">
            <a:avLst>
              <a:gd name="adj" fmla="val 3036"/>
            </a:avLst>
          </a:prstGeom>
          <a:effectLst>
            <a:outerShdw blurRad="203200" dist="76200" dir="5400000" algn="bl" rotWithShape="0">
              <a:srgbClr val="0B2A3C">
                <a:alpha val="18000"/>
              </a:srgbClr>
            </a:outerShdw>
          </a:effectLst>
        </p:spPr>
      </p:pic>
      <p:sp>
        <p:nvSpPr>
          <p:cNvPr id="17" name="Shape 10"/>
          <p:cNvSpPr/>
          <p:nvPr/>
        </p:nvSpPr>
        <p:spPr>
          <a:xfrm>
            <a:off x="5921375" y="1699320"/>
            <a:ext cx="5454650" cy="3143250"/>
          </a:xfrm>
          <a:prstGeom prst="roundRect">
            <a:avLst>
              <a:gd name="adj" fmla="val 3131"/>
            </a:avLst>
          </a:prstGeom>
          <a:noFill/>
          <a:ln w="6350">
            <a:solidFill>
              <a:srgbClr val="C5D6E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1"/>
          <p:cNvSpPr/>
          <p:nvPr/>
        </p:nvSpPr>
        <p:spPr>
          <a:xfrm>
            <a:off x="5918200" y="4934645"/>
            <a:ext cx="56248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708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Prototyp mit Testdaten: Prä-OP-Checkliste mit Fortschritt je Fall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708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Die Anwendung unterstützt die Dokumentation. Medizinische Entscheide bleiben bei den Fachpersonen.</a:t>
            </a:r>
            <a:endParaRPr lang="en-US" sz="1200" dirty="0"/>
          </a:p>
        </p:txBody>
      </p:sp>
      <p:pic>
        <p:nvPicPr>
          <p:cNvPr id="21" name="Image 2" descr="Users">
            <a:extLst>
              <a:ext uri="{FF2B5EF4-FFF2-40B4-BE49-F238E27FC236}">
                <a16:creationId xmlns:a16="http://schemas.microsoft.com/office/drawing/2014/main" id="{25F133C3-2ABA-A9F6-1EF8-CFA6CD46642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12800" y="3675856"/>
            <a:ext cx="279400" cy="279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7FD3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 · DEMO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0080"/>
            <a:ext cx="1088339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720"/>
              </a:lnSpc>
              <a:buNone/>
            </a:pPr>
            <a:r>
              <a:rPr lang="en-US" sz="6400" b="1" i="0" dirty="0">
                <a:solidFill>
                  <a:srgbClr val="F4F8F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Live-Demo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22325" y="2160786"/>
            <a:ext cx="4677930" cy="70991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7FD3FF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7FD3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http://bene-ksw.init-lab.ch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12800" y="4508004"/>
            <a:ext cx="2451100" cy="0"/>
          </a:xfrm>
          <a:prstGeom prst="line">
            <a:avLst/>
          </a:prstGeom>
          <a:noFill/>
          <a:ln w="19050">
            <a:solidFill>
              <a:srgbClr val="2B607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812800" y="4669929"/>
            <a:ext cx="25246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7FD3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12800" y="5089029"/>
            <a:ext cx="252463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8F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Übersicht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5396309"/>
            <a:ext cx="252463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B7D0D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Fälle, Suche, Fortschritt je Patient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17900" y="4508004"/>
            <a:ext cx="2451100" cy="0"/>
          </a:xfrm>
          <a:prstGeom prst="line">
            <a:avLst/>
          </a:prstGeom>
          <a:noFill/>
          <a:ln w="19050">
            <a:solidFill>
              <a:srgbClr val="2B607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3517900" y="4669929"/>
            <a:ext cx="25246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7FD3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17900" y="5089029"/>
            <a:ext cx="252463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8F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Checkliste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17900" y="5396309"/>
            <a:ext cx="252463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B7D0D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Vitalparameter und Fragebögen erfassen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23000" y="4508004"/>
            <a:ext cx="2451100" cy="0"/>
          </a:xfrm>
          <a:prstGeom prst="line">
            <a:avLst/>
          </a:prstGeom>
          <a:noFill/>
          <a:ln w="19050">
            <a:solidFill>
              <a:srgbClr val="2B607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6223000" y="4669929"/>
            <a:ext cx="25246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7FD3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23000" y="5089029"/>
            <a:ext cx="252463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 err="1">
                <a:solidFill>
                  <a:srgbClr val="F4F8F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Automatisierung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23000" y="5396309"/>
            <a:ext cx="252463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B7D0D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Scores, Zuweisungshinweise, Laborimport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0070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 · AUSBLICK UND IMPACT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20080"/>
            <a:ext cx="10883392" cy="423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36"/>
              </a:lnSpc>
              <a:buNone/>
            </a:pPr>
            <a:r>
              <a:rPr lang="en-US" sz="2800" b="1" i="0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Vom Vorbereitungs-Tool zum Qualitätsmonitoring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696145"/>
            <a:ext cx="2222500" cy="840680"/>
          </a:xfrm>
          <a:prstGeom prst="roundRect">
            <a:avLst>
              <a:gd name="adj" fmla="val 12085"/>
            </a:avLst>
          </a:prstGeom>
          <a:solidFill>
            <a:srgbClr val="0079AD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990600" y="1835845"/>
            <a:ext cx="192290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Prä-OP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0600" y="2158405"/>
            <a:ext cx="19229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6F6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Heute im Prototyp</a:t>
            </a:r>
            <a:endParaRPr lang="en-US" sz="1200" dirty="0"/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62300" y="2027535"/>
            <a:ext cx="279400" cy="177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575050" y="1702495"/>
            <a:ext cx="2235200" cy="827980"/>
          </a:xfrm>
          <a:prstGeom prst="roundRect">
            <a:avLst>
              <a:gd name="adj" fmla="val 11504"/>
            </a:avLst>
          </a:prstGeom>
          <a:solidFill>
            <a:srgbClr val="FFFFFF"/>
          </a:solidFill>
          <a:ln w="12700">
            <a:solidFill>
              <a:srgbClr val="D9692A"/>
            </a:solidFill>
            <a:prstDash val="dash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6"/>
          <p:cNvSpPr/>
          <p:nvPr/>
        </p:nvSpPr>
        <p:spPr>
          <a:xfrm>
            <a:off x="3759200" y="1848545"/>
            <a:ext cx="192290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OP &amp; Stationär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759200" y="2171105"/>
            <a:ext cx="19229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21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Nächster Schritt</a:t>
            </a:r>
            <a:endParaRPr lang="en-US" sz="1200" dirty="0"/>
          </a:p>
        </p:txBody>
      </p:sp>
      <p:pic>
        <p:nvPicPr>
          <p:cNvPr id="11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2027535"/>
            <a:ext cx="279400" cy="177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356350" y="1702495"/>
            <a:ext cx="2235200" cy="827980"/>
          </a:xfrm>
          <a:prstGeom prst="roundRect">
            <a:avLst>
              <a:gd name="adj" fmla="val 11504"/>
            </a:avLst>
          </a:prstGeom>
          <a:solidFill>
            <a:srgbClr val="FFFFFF"/>
          </a:solidFill>
          <a:ln w="12700">
            <a:solidFill>
              <a:srgbClr val="D9692A"/>
            </a:solidFill>
            <a:prstDash val="dash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9"/>
          <p:cNvSpPr/>
          <p:nvPr/>
        </p:nvSpPr>
        <p:spPr>
          <a:xfrm>
            <a:off x="6540500" y="1848545"/>
            <a:ext cx="192290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Nachsorge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40500" y="2171105"/>
            <a:ext cx="19229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21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Nächster Schritt</a:t>
            </a:r>
            <a:endParaRPr lang="en-US" sz="1200" dirty="0"/>
          </a:p>
        </p:txBody>
      </p:sp>
      <p:pic>
        <p:nvPicPr>
          <p:cNvPr id="15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4900" y="2027535"/>
            <a:ext cx="279400" cy="1778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37650" y="1702495"/>
            <a:ext cx="2235200" cy="827980"/>
          </a:xfrm>
          <a:prstGeom prst="roundRect">
            <a:avLst>
              <a:gd name="adj" fmla="val 11504"/>
            </a:avLst>
          </a:prstGeom>
          <a:solidFill>
            <a:srgbClr val="FFFFFF"/>
          </a:solidFill>
          <a:ln w="12700">
            <a:solidFill>
              <a:srgbClr val="D9692A"/>
            </a:solidFill>
            <a:prstDash val="dash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2"/>
          <p:cNvSpPr/>
          <p:nvPr/>
        </p:nvSpPr>
        <p:spPr>
          <a:xfrm>
            <a:off x="9321800" y="1848545"/>
            <a:ext cx="192290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321800" y="2171105"/>
            <a:ext cx="19229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21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Nächster Schritt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5975" y="2717800"/>
            <a:ext cx="3380284" cy="2131913"/>
          </a:xfrm>
          <a:prstGeom prst="roundRect">
            <a:avLst>
              <a:gd name="adj" fmla="val 5808"/>
            </a:avLst>
          </a:prstGeom>
          <a:solidFill>
            <a:srgbClr val="FFFFFF"/>
          </a:solidFill>
          <a:ln w="635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5"/>
          <p:cNvSpPr/>
          <p:nvPr/>
        </p:nvSpPr>
        <p:spPr>
          <a:xfrm>
            <a:off x="1047750" y="2924175"/>
            <a:ext cx="300423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Postoperativ verstärken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145794" y="3256855"/>
            <a:ext cx="2898572" cy="1411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956" indent="-155956">
              <a:lnSpc>
                <a:spcPts val="1820"/>
              </a:lnSpc>
              <a:buSzPct val="100000"/>
              <a:buFontTx/>
              <a:buChar char="•"/>
            </a:pPr>
            <a:r>
              <a:rPr lang="en-US" sz="130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ERAS-</a:t>
            </a:r>
            <a:r>
              <a:rPr lang="en-US" sz="1300" dirty="0" err="1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Elemente</a:t>
            </a:r>
            <a:r>
              <a:rPr lang="en-US" sz="130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und </a:t>
            </a:r>
          </a:p>
          <a:p>
            <a:pPr>
              <a:lnSpc>
                <a:spcPts val="1820"/>
              </a:lnSpc>
              <a:buSzPct val="100000"/>
            </a:pPr>
            <a:r>
              <a:rPr lang="en-US" sz="1300" dirty="0" err="1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Komplikationen</a:t>
            </a:r>
            <a:r>
              <a:rPr lang="en-US" sz="130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bis 90 Tage</a:t>
            </a:r>
          </a:p>
          <a:p>
            <a:pPr marL="155956" indent="-155956">
              <a:lnSpc>
                <a:spcPts val="1820"/>
              </a:lnSpc>
              <a:buSzPct val="100000"/>
              <a:buFontTx/>
              <a:buChar char="•"/>
            </a:pPr>
            <a:r>
              <a:rPr lang="en-US" sz="130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Dashboard und </a:t>
            </a:r>
            <a:r>
              <a:rPr lang="en-US" sz="1300" dirty="0" err="1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Statistik</a:t>
            </a:r>
            <a:endParaRPr lang="en-US" sz="1300" dirty="0"/>
          </a:p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 err="1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Nachsorge-Telefon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405809" y="2717800"/>
            <a:ext cx="3380383" cy="2131913"/>
          </a:xfrm>
          <a:prstGeom prst="roundRect">
            <a:avLst>
              <a:gd name="adj" fmla="val 5808"/>
            </a:avLst>
          </a:prstGeom>
          <a:solidFill>
            <a:srgbClr val="FFFFFF"/>
          </a:solidFill>
          <a:ln w="635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18"/>
          <p:cNvSpPr/>
          <p:nvPr/>
        </p:nvSpPr>
        <p:spPr>
          <a:xfrm>
            <a:off x="4637584" y="2924175"/>
            <a:ext cx="300433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Patienten einbinden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4735628" y="3256855"/>
            <a:ext cx="2898674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Fragebogen per KI-Telefon oder SMS</a:t>
            </a:r>
            <a:endParaRPr lang="en-US" sz="1300" dirty="0"/>
          </a:p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Komplikationen und Zufriedenheit</a:t>
            </a:r>
            <a:endParaRPr lang="en-US" sz="1300" dirty="0"/>
          </a:p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Personalisierte Edukation, z. B. Rauchstopp bei Raucheranamnese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995741" y="2717800"/>
            <a:ext cx="3380284" cy="2131913"/>
          </a:xfrm>
          <a:prstGeom prst="roundRect">
            <a:avLst>
              <a:gd name="adj" fmla="val 5808"/>
            </a:avLst>
          </a:prstGeom>
          <a:solidFill>
            <a:srgbClr val="FFFFFF"/>
          </a:solidFill>
          <a:ln w="6350">
            <a:solidFill>
              <a:srgbClr val="D3E2E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 21"/>
          <p:cNvSpPr/>
          <p:nvPr/>
        </p:nvSpPr>
        <p:spPr>
          <a:xfrm>
            <a:off x="8227516" y="2924175"/>
            <a:ext cx="300423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A3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Vernetzen und skalieren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325560" y="3256855"/>
            <a:ext cx="2898572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Schnittstelle zu KISIM: </a:t>
            </a:r>
          </a:p>
          <a:p>
            <a:pPr algn="l">
              <a:lnSpc>
                <a:spcPts val="1820"/>
              </a:lnSpc>
              <a:buSzPct val="100000"/>
            </a:pPr>
            <a:r>
              <a:rPr lang="en-US" sz="1300" dirty="0" err="1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Daten</a:t>
            </a:r>
            <a:r>
              <a:rPr lang="en-US" sz="130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nur einmal erfassen</a:t>
            </a:r>
            <a:endParaRPr lang="en-US" sz="1300" dirty="0"/>
          </a:p>
          <a:p>
            <a:pPr marL="155956" indent="-1559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Weitere Eingriffe, z. B. </a:t>
            </a:r>
            <a:r>
              <a:rPr lang="en-US" sz="1300" dirty="0" err="1">
                <a:solidFill>
                  <a:srgbClr val="3E556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Prostatektomie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812800" y="5030688"/>
            <a:ext cx="10566400" cy="758825"/>
          </a:xfrm>
          <a:prstGeom prst="roundRect">
            <a:avLst>
              <a:gd name="adj" fmla="val 16736"/>
            </a:avLst>
          </a:prstGeom>
          <a:solidFill>
            <a:srgbClr val="0B2A3C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29" name="Text 24"/>
          <p:cNvSpPr/>
          <p:nvPr/>
        </p:nvSpPr>
        <p:spPr>
          <a:xfrm>
            <a:off x="1066800" y="5303441"/>
            <a:ext cx="8362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7FD3F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IMPACT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2178969" y="5302448"/>
            <a:ext cx="2201287" cy="239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350" b="1" dirty="0">
                <a:solidFill>
                  <a:srgbClr val="F4F8F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Weniger Aufwand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4163753" y="5302448"/>
            <a:ext cx="2049066" cy="346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350" b="1" dirty="0">
                <a:solidFill>
                  <a:srgbClr val="F4F8F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Messbare ERAS-Compliance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6700750" y="5314651"/>
            <a:ext cx="2201287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350" b="1" dirty="0">
                <a:solidFill>
                  <a:srgbClr val="F4F8FB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Komplikationen früh erkennen</a:t>
            </a:r>
            <a:endParaRPr lang="en-US" sz="1350" dirty="0"/>
          </a:p>
        </p:txBody>
      </p:sp>
      <p:sp>
        <p:nvSpPr>
          <p:cNvPr id="33" name="Text 28"/>
          <p:cNvSpPr/>
          <p:nvPr/>
        </p:nvSpPr>
        <p:spPr>
          <a:xfrm>
            <a:off x="9124444" y="5318792"/>
            <a:ext cx="2201287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RAS-Pfad Urologie KSW">
  <a:themeElements>
    <a:clrScheme name="ERAS-Pfad Urologie KSW">
      <a:dk1>
        <a:srgbClr val="0B2A3C"/>
      </a:dk1>
      <a:lt1>
        <a:srgbClr val="F4F8FB"/>
      </a:lt1>
      <a:dk2>
        <a:srgbClr val="455E6C"/>
      </a:dk2>
      <a:lt2>
        <a:srgbClr val="DDE3E8"/>
      </a:lt2>
      <a:accent1>
        <a:srgbClr val="3E5566"/>
      </a:accent1>
      <a:accent2>
        <a:srgbClr val="7FD3FF"/>
      </a:accent2>
      <a:accent3>
        <a:srgbClr val="B4521B"/>
      </a:accent3>
      <a:accent4>
        <a:srgbClr val="B7D0DF"/>
      </a:accent4>
      <a:accent5>
        <a:srgbClr val="00709F"/>
      </a:accent5>
      <a:accent6>
        <a:srgbClr val="0079AD"/>
      </a:accent6>
      <a:hlink>
        <a:srgbClr val="0563C1"/>
      </a:hlink>
      <a:folHlink>
        <a:srgbClr val="954F72"/>
      </a:folHlink>
    </a:clrScheme>
    <a:fontScheme name="ERAS-Pfad Urologie KSW">
      <a:majorFont>
        <a:latin typeface="Public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Microsoft Office PowerPoint</Application>
  <PresentationFormat>Breitbild</PresentationFormat>
  <Paragraphs>66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Public Sans</vt:lpstr>
      <vt:lpstr>ERAS-Pfad Urologie KSW</vt:lpstr>
      <vt:lpstr>Komplex im Ablauf, schwer messbar in der Qualität</vt:lpstr>
      <vt:lpstr>Eine lokale Plattform für den ganzen ERAS-Pfad</vt:lpstr>
      <vt:lpstr>Live-Demo</vt:lpstr>
      <vt:lpstr>Vom Vorbereitungs-Tool zum Qualitätsmonitoring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ERAS-Pfad Urologie KSW</dc:title>
  <dc:subject/>
  <dc:creator/>
  <cp:lastModifiedBy>Erdem Gökmen (erdemgoe)</cp:lastModifiedBy>
  <cp:revision>22</cp:revision>
  <dcterms:created xsi:type="dcterms:W3CDTF">2026-10-15T18:25:40Z</dcterms:created>
  <dcterms:modified xsi:type="dcterms:W3CDTF">2026-10-15T18:58:51Z</dcterms:modified>
</cp:coreProperties>
</file>